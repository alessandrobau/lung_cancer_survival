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323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6323F"/>
                </a:solidFill>
                <a:latin typeface="Arial"/>
              </a:rPr>
              <a:t>Taxa de sobrevida por estágio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sobrevida (%)</c:v>
                </c:pt>
              </c:strCache>
            </c:strRef>
          </c:tx>
          <c:spPr>
            <a:solidFill>
              <a:srgbClr val="2E5E6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Stage I</c:v>
                  </c:pt>
                  <c:pt idx="1">
                    <c:v>Stage II</c:v>
                  </c:pt>
                  <c:pt idx="2">
                    <c:v>Stage III</c:v>
                  </c:pt>
                  <c:pt idx="3">
                    <c:v>Stage IV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69.8</c:v>
                </c:pt>
                <c:pt idx="1">
                  <c:v>50.7</c:v>
                </c:pt>
                <c:pt idx="2">
                  <c:v>17.4</c:v>
                </c:pt>
                <c:pt idx="3">
                  <c:v>5.5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323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6323F"/>
                </a:solidFill>
                <a:latin typeface="Arial"/>
              </a:rPr>
              <a:t>ROC-AUC por profundidade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Treino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8</c:v>
                  </c:pt>
                  <c:pt idx="6">
                    <c:v>sem limite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0.8131</c:v>
                </c:pt>
                <c:pt idx="1">
                  <c:v>0.8279</c:v>
                </c:pt>
                <c:pt idx="2">
                  <c:v>0.8417</c:v>
                </c:pt>
                <c:pt idx="3">
                  <c:v>0.8582</c:v>
                </c:pt>
                <c:pt idx="4">
                  <c:v>0.8704</c:v>
                </c:pt>
                <c:pt idx="5">
                  <c:v>0.8783</c:v>
                </c:pt>
                <c:pt idx="6">
                  <c:v>0.8791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Validação cruzada</c:v>
                </c:pt>
              </c:strCache>
            </c:strRef>
          </c:tx>
          <c:spPr>
            <a:solidFill>
              <a:srgbClr val="2E5E6E"/>
            </a:solidFill>
            <a:ln w="38100" cap="flat">
              <a:solidFill>
                <a:srgbClr val="2E5E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E5E6E"/>
              </a:solidFill>
              <a:ln w="9525" cap="flat">
                <a:solidFill>
                  <a:srgbClr val="2E5E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8</c:v>
                  </c:pt>
                  <c:pt idx="6">
                    <c:v>sem limite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0.8132</c:v>
                </c:pt>
                <c:pt idx="1">
                  <c:v>0.8063</c:v>
                </c:pt>
                <c:pt idx="2">
                  <c:v>0.8009</c:v>
                </c:pt>
                <c:pt idx="3">
                  <c:v>0.7847</c:v>
                </c:pt>
                <c:pt idx="4">
                  <c:v>0.7851</c:v>
                </c:pt>
                <c:pt idx="5">
                  <c:v>0.7815</c:v>
                </c:pt>
                <c:pt idx="6">
                  <c:v>0.7811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3"/>
                    </a:solidFill>
                    <a:latin typeface="Arial"/>
                  </a:rPr>
                  <a:t>max_depth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76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 das outras 37 variáveis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Stage I</c:v>
                  </c:pt>
                  <c:pt idx="1">
                    <c:v>Stage II</c:v>
                  </c:pt>
                  <c:pt idx="2">
                    <c:v>Stage III</c:v>
                  </c:pt>
                  <c:pt idx="3">
                    <c:v>Stage IV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0.523</c:v>
                </c:pt>
                <c:pt idx="1">
                  <c:v>0.469</c:v>
                </c:pt>
                <c:pt idx="2">
                  <c:v>0.501</c:v>
                </c:pt>
                <c:pt idx="3">
                  <c:v>0.44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2E5E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Baseline (chute)</c:v>
                  </c:pt>
                  <c:pt idx="1">
                    <c:v>Sem nenhuma medida de gravidade</c:v>
                  </c:pt>
                  <c:pt idx="2">
                    <c:v>Sem estágio e metástase</c:v>
                  </c:pt>
                  <c:pt idx="3">
                    <c:v>Sem estágio</c:v>
                  </c:pt>
                  <c:pt idx="4">
                    <c:v>Só o estágio</c:v>
                  </c:pt>
                  <c:pt idx="5">
                    <c:v>Todas as 38 variáveis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</c:v>
                </c:pt>
                <c:pt idx="1">
                  <c:v>0.591</c:v>
                </c:pt>
                <c:pt idx="2">
                  <c:v>0.752</c:v>
                </c:pt>
                <c:pt idx="3">
                  <c:v>0.763</c:v>
                </c:pt>
                <c:pt idx="4">
                  <c:v>0.806</c:v>
                </c:pt>
                <c:pt idx="5">
                  <c:v>0.806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4"/>
        </c:scaling>
        <c:delete val="0"/>
        <c:axPos val="b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tema: prever, no momento do diagnóstico, se um paciente com câncer de pulmão vai sobreviver, usando uma árvore de decisão. Adiantar que o resultado mais interessante do trabalho é um achado sobre o próprio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o problema é de prognóstico no diagnóstico. Essa definição é o que decide quais colunas podem ou não entrar no modelo — vai ser importante no slide de vazamento.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dados vieram limpos. A decisão sobre outliers precisa ser defendida: remover os sinalizados apagaria justamente os fumantes pesados.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Gradiente perfeito de I a IV: de quase 70% para 5,5%. O V de Cramér mostra que a associação está concentrada numa variável. É o primeiro sinal do achado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coração metodológico do trabalho. O argumento temporal é o mais forte: um paciente diagnosticado em 2026 não pode ter 100 meses de sobrevida. Ficam 38 variáveis.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validação cruzada dentro do treino faz o papel do conjunto de validação. Destacar a codificação ordinal do estágio: é o que vai permitir ler a árvore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gap é a diferença entre treino e validação: quanto do desempenho não se transfere para dados novos. É o exemplo clássico de sobreajuste. O próximo slide mostra como controlar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Hiperparâmetro é o que se escolhe antes do treino. A busca testou 70 combinações com validação cruzada no treino. O melhor ponto é o topo da curva de validação: profundidade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figura é o modelo, não um resumo dele. Qualquer predição pode ser refeita à mão. Todos os pacientes do mesmo estágio recebem a mesma probabilidade: na prática, é uma tabela de quatro linhas.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ROC-AUC mede a capacidade de ordenar pacientes e não depende do limiar. A curva ROC fica acima da diagonal. A matriz mostra 24 sobreviventes perdidos e 92 alarmes falsos.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pergunta que a banca vai fazer. Antecipá-la: os próximos três slides mostram que não é defeito do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 1: se a árvore fosse simples demais, Random Forest e boosting achariam mais sinal. Não acham. Teste 2: se as outras variáveis tivessem informação própria, separariam pacientes do mesmo estágio. Não separam — 0,5 é chute.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0,76 sem o estágio parecem sinal independente, mas não são: o modelo usa variáveis que medem a mesma coisa. Tirando as três medidas de gravidade, cai para perto do chute.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Frase-chave: não é que o modelo ficou ruim, é que o dataset só tem uma variável com informação. A árvore foi escolhida justamente porque torna isso visível.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acertos e erros de propósito. Se possível, rodar o notebook ao vivo aqui ou mostrar as capturas de tela da execução. O what-if confirma que o modelo aprendeu a ordem clínica correta.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as limitações com a mesma naturalidade dos resultados. Todas estão discutidas na seção 7.7 do relatório.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com o achado: o resultado negativo é o que dá valor ao trabalho. Protocolo anti-vazamento sólido, estimativa honesta, e um diagnóstico claro sobre o dataset.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1 — INTELIGÊNCIA ARTIFICIAL II — 2026/02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Prognóstico de sobrevida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câncer de pulmão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4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com Árvore de Decisão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Antonio Meneghetti (AMF) — Sistemas de Informação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8521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momento em que o câncer é diagnosticado, as informações disponíveis permitem prever se o paciente sobreviverá?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tarefa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supervisionado — classificação binária. Classe positiva: sobreviveu.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Restrição central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pode entrar no modelo o que existe no instante do diagnóstico. Qualquer informação posterior é vazamento.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1371600"/>
            <a:ext cx="4663440" cy="4754880"/>
          </a:xfrm>
          <a:prstGeom prst="roundRect">
            <a:avLst>
              <a:gd name="adj" fmla="val 156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0" y="16459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15200" y="2514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pacientes, 46 colunas, 60 países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30632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37,8%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3931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sobreviveram — alvo moderadamente desbalanceado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44805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2015–2026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5349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diagnóstico cobertos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e qualidade dos dados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ausentes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508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duplicadas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508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fora de faixa clínica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11064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nenhum removido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de Tukey sinaliza 236 pacientes em Pack_Years. Mas 65,5% nunca fumaram e têm zero por definição — os sinalizados são fumantes pesados reais, não erros.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de decisão são insensíveis à magnitude de outliers: só importa a ordem dos valores.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tão alta já sugere origem sintética — confirmado mais adiante.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kaggle.com/datasets/laxmikantaroy/lung-cancer-risk-factors-and-survival-dataset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sobrevida cai com o estágio do câncer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67665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325880"/>
            <a:ext cx="3840480" cy="4937760"/>
          </a:xfrm>
          <a:prstGeom prst="roundRect">
            <a:avLst>
              <a:gd name="adj" fmla="val 190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de Cramér com o alvo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057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Cancer_Stage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424160" y="2057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0,538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532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Metastasis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424160" y="25328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0,381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0083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Diagnosis_Method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424160" y="30083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0,202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34838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Smoking_Status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424160" y="348386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0,137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39593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Genetic_Mutation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424160" y="39593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0,077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46177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estágio domina. A segunda colocada, metástase, é praticamente o estágio IV reescrito.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Vazamento de dados: duas colunas proibidas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Survival_Months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de alvo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próprio desfecho em outra escala.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Sozinha, prevê com ROC-AUC 0,778.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 pacientes (21,9%) têm sobrevida maior que o tempo possível desde o diagnóstico.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600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temporal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0604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tratamento é decidido depois do diagnóstico.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"Palliative Care" já codifica o prognóstico dado pelo médico.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causa o desfecho — reflete uma avaliação já feita.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removidos: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identificadores (Patient_ID, Diagnosis_Date), redundâncias exatas (Age_Group, BMI_Category) e Country (60 níveis; WHO_Region preserva o sinal). A remoção acontece antes de qualquer divisão, e uma asserção garante que nenhuma coluna proibida sobreviva.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experimental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2E5E6E"/>
          </a:solidFill>
          <a:ln w="12700">
            <a:solidFill>
              <a:srgbClr val="2E5E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77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vazamento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63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divisão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146304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691640"/>
            <a:ext cx="502920" cy="502920"/>
          </a:xfrm>
          <a:prstGeom prst="ellipse">
            <a:avLst/>
          </a:prstGeom>
          <a:solidFill>
            <a:srgbClr val="2E5E6E"/>
          </a:solidFill>
          <a:ln w="12700">
            <a:solidFill>
              <a:srgbClr val="2E5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377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80/20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063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1.600 treino · 400 teste, estratificado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120640" y="146304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1691640"/>
            <a:ext cx="502920" cy="502920"/>
          </a:xfrm>
          <a:prstGeom prst="ellipse">
            <a:avLst/>
          </a:prstGeom>
          <a:solidFill>
            <a:srgbClr val="2E5E6E"/>
          </a:solidFill>
          <a:ln w="12700">
            <a:solidFill>
              <a:srgbClr val="2E5E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377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063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refeito em cada fold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0" y="146304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1691640"/>
            <a:ext cx="502920" cy="502920"/>
          </a:xfrm>
          <a:prstGeom prst="ellipse">
            <a:avLst/>
          </a:prstGeom>
          <a:solidFill>
            <a:srgbClr val="2E5E6E"/>
          </a:solidFill>
          <a:ln w="12700">
            <a:solidFill>
              <a:srgbClr val="2E5E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35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2377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635240" y="3063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combinações × 5 folds, só no treino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692640" y="1463040"/>
            <a:ext cx="2057400" cy="2468880"/>
          </a:xfrm>
          <a:prstGeom prst="roundRect">
            <a:avLst>
              <a:gd name="adj" fmla="val 3556"/>
            </a:avLst>
          </a:prstGeom>
          <a:solidFill>
            <a:srgbClr val="FBE3DC"/>
          </a:solidFill>
          <a:ln w="12700">
            <a:solidFill>
              <a:srgbClr val="FBE3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169164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921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921240" y="2377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921240" y="3063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tocado uma única vez, no fim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2377440"/>
                <a:gridCol w="6400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árvores são invariantes a escala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Binárias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= 0, Yes =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categorias fixas entre folds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ordem clínica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I=0 … Stage IV=3: um corte ≤ 1,5 = estágio inicial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ordem natural; níveis raros agrupados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árvore sem limite memoriza os pacientes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37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no treino — acerta todos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737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0,639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na validação — desaba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474720" cy="2194560"/>
          </a:xfrm>
          <a:prstGeom prst="roundRect">
            <a:avLst>
              <a:gd name="adj" fmla="val 3333"/>
            </a:avLst>
          </a:prstGeom>
          <a:solidFill>
            <a:srgbClr val="FBE3DC"/>
          </a:solidFill>
          <a:ln w="12700">
            <a:solidFill>
              <a:srgbClr val="FBE3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58200" y="1737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0,361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treino − validação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max_depth, a árvore cresce até isolar cada paciente numa folha. Ela decora o conjunto de treino em vez de aprender o padrão.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baseline, que sempre prevê a classe majoritária, tem ROC-AUC 0,500. Todo modelo precisa superá-lo.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Ajuste: quanto mais funda, pior a árvore generaliza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25880"/>
          <a:ext cx="71323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325880"/>
            <a:ext cx="3474720" cy="4937760"/>
          </a:xfrm>
          <a:prstGeom prst="roundRect">
            <a:avLst>
              <a:gd name="adj" fmla="val 210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Escolhidos pelo GridSearchCV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24128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241280" y="25146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0" y="2971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24128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06908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curvas se afastam a cada nível: o treino sobe, a validação cai. Esse afastamento é o sobreajuste, medido diretamente.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final, por inteiro</a:t>
            </a:r>
            <a:endParaRPr lang="en-US" sz="3000" dirty="0"/>
          </a:p>
        </p:txBody>
      </p:sp>
      <p:pic>
        <p:nvPicPr>
          <p:cNvPr id="5" name="Image 0" descr="/home/claude/entrega/reports/figures/06_arvore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680960" cy="35935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280160"/>
            <a:ext cx="3063240" cy="4983480"/>
          </a:xfrm>
          <a:prstGeom prst="roundRect">
            <a:avLst>
              <a:gd name="adj" fmla="val 2388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77824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192024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Verdadeiro desce à esquerda.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 = 0 … Stage IV = 3.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≤ 1,5 separa estágios iniciais (I, II) de avançados (III, IV).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= sobreviveu; laranja = não sobreviveu.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2064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Estágio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Probabilidade prevista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8778240" y="5029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2 · 4 folhas · 1 variável usada de 63 disponíveis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no conjunto de teste</a:t>
            </a:r>
            <a:endParaRPr lang="en-US" sz="3000" dirty="0"/>
          </a:p>
        </p:txBody>
      </p:sp>
      <p:pic>
        <p:nvPicPr>
          <p:cNvPr id="5" name="Image 0" descr="/home/claude/entrega/reports/figures/05_avali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766560" cy="2596896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 balanceada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Revocação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206240"/>
            <a:ext cx="11064240" cy="2057400"/>
          </a:xfrm>
          <a:prstGeom prst="roundRect">
            <a:avLst>
              <a:gd name="adj" fmla="val 3556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43891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treino × teste de 0,034: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sinal de memorização — compare com o gap de 0,361 da árvore sem limite.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Revocação alta, precisão menor: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do class_weight balanced. O modelo prefere não deixar escapar sobreviventes, ao custo de mais alarmes falsos.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foi usado uma única vez.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decisão do projeto foi tomada olhando para ele.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usa só o estágio do câncer.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5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Há algo de errado?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testes para descartar as explicações alternativas.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1 e 2: não é o algoritmo, é o dado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1 — outros modelos, sem restrição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variáveis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 estágio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(prof. 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9776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modelo mais flexível supera uma variável só.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280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2 — sinal dentro de cada estágio</a:t>
            </a:r>
            <a:endParaRPr lang="en-US" sz="17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309360" y="1737360"/>
          <a:ext cx="53035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BE3DC"/>
          </a:solidFill>
          <a:ln w="12700">
            <a:solidFill>
              <a:srgbClr val="FBE3D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decisivo: </a:t>
            </a:r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separado para cada estágio, usando as outras 37 variáveis, dá ROC-AUC entre 0,44 e 0,52 — sorteio nos quatro. Fixada a gravidade da doença, idade, tabagismo, sintomas e genética não distinguem ninguém.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3: sem o estágio, o modelo o reconstrói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7223760" cy="4983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280160"/>
            <a:ext cx="3474720" cy="4983480"/>
          </a:xfrm>
          <a:prstGeom prst="roundRect">
            <a:avLst>
              <a:gd name="adj" fmla="val 2105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com o estágio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Tumor_Size_cm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424160" y="19659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0,85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4048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Metastasis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0424160" y="2404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0,75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8437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Pack_Years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424160" y="28437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32826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0424160" y="32826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384048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estágio, a árvore passa a cortar em tamanho do tumor (74%) e metástase (26%). O tumor vai de 2,0 cm no Stage I a 7,2 cm no Stage IV: é uma régua do mesmo estágio.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o modelo se resume a uma variável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dataset codifica uma única dimensão — a gravidade da doença — em três formas redundantes: estágio, metástase e tamanho do tumor. Todo o resto é ruído.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árvore para no primeiro corte útil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cortar pelo estágio, nenhuma outra variável melhora a separação. O algoritmo não tem por que continuar.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37744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606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complexos não vão além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429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 boosting procuram interações. Sem sinal dentro de cada estágio, não há interação a encontrar.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37744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606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profundidade piora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Forçando profundidade 4, a árvore corta em idade e tabagismo — e o teste cai de 0,779 para 0,772.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3035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absurdo clínico: </a:t>
            </a:r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câncer de pulmão real, o estadiamento é o principal fator prognóstico. O que denuncia a origem sintética é o resíduo ser exatamente zero — em dados reais, idade e comorbidades ainda moveriam o ponteiro dentro de cada estágio.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predições em pacientes do teste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1188720"/>
                <a:gridCol w="1188720"/>
                <a:gridCol w="914400"/>
                <a:gridCol w="2011680"/>
                <a:gridCol w="2011680"/>
                <a:gridCol w="822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Estágio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Tumor (cm)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6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LC-1218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Sobrevive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Sobreviveu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LC-0243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sobrevive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sobreviveu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LC-1510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sobrevive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sobreviveu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8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LC-1122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Sobrevive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sobreviveu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LC-1954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III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sobrevive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Sobreviveu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977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What-if: mesmo paciente, só o estágio muda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48056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E2F0EB"/>
          </a:solidFill>
          <a:ln w="12700">
            <a:solidFill>
              <a:srgbClr val="E2F0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617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0,803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394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68880" y="448056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E2F0EB"/>
          </a:solidFill>
          <a:ln w="12700">
            <a:solidFill>
              <a:srgbClr val="E2F0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68880" y="4617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8B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0,636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5394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89120" y="448056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FBE3DC"/>
          </a:solidFill>
          <a:ln w="12700">
            <a:solidFill>
              <a:srgbClr val="FBE3D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89120" y="4617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0,247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5394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09360" y="4480560"/>
            <a:ext cx="1737360" cy="1737360"/>
          </a:xfrm>
          <a:prstGeom prst="roundRect">
            <a:avLst>
              <a:gd name="adj" fmla="val 4211"/>
            </a:avLst>
          </a:prstGeom>
          <a:solidFill>
            <a:srgbClr val="FBE3DC"/>
          </a:solidFill>
          <a:ln w="12700">
            <a:solidFill>
              <a:srgbClr val="FBE3D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46177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0,083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5394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448056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se concentram no Stage II, onde a sobrevida real é ~50%: com apenas o estágio, o modelo não tem nada que separe os dois grupos.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12064" cy="51206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resíduo zero fora do estágio não ocorre em dados clínicos reais.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são instáveis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011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a semente ou alguns pacientes pode alterar os cortes.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não calibradas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11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class_weight balanced distorce a escala: servem para ordenar, não como risco absoluto.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4 valores de saída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611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do mesmo estágio são indistinguíveis para o modelo.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EF3F4"/>
          </a:solidFill>
          <a:ln w="12700">
            <a:solidFill>
              <a:srgbClr val="EEF3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754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uso clínico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reproduz o estágio, que o médico já conhece no diagnóstico.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3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FC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estágio sozinho prevê tão bem quanto as 38 variáveis juntas.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A5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0,779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no teste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3108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A5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0,034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treino × teste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3108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A5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4023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folhas na árvore final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9377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árvore foi escolhida por tornar isso visível. Um modelo mais complexo chegaria ao mesmo desempenho e esconderia o fato atrás de centenas de parâmetros.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Prognóstico de sobrevida em câncer de pulmão — Árvore de Decisão</dc:title>
  <dc:subject>PptxGenJS Presentation</dc:subject>
  <dc:creator>PptxGenJS</dc:creator>
  <cp:lastModifiedBy>PptxGenJS</cp:lastModifiedBy>
  <cp:revision>1</cp:revision>
  <dcterms:created xsi:type="dcterms:W3CDTF">2026-09-21T02:03:26Z</dcterms:created>
  <dcterms:modified xsi:type="dcterms:W3CDTF">2026-09-21T02:03:26Z</dcterms:modified>
</cp:coreProperties>
</file>